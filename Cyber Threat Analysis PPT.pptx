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69" r:id="rId5"/>
    <p:sldId id="260" r:id="rId6"/>
    <p:sldId id="261" r:id="rId7"/>
    <p:sldId id="276" r:id="rId8"/>
    <p:sldId id="263" r:id="rId9"/>
    <p:sldId id="266" r:id="rId10"/>
    <p:sldId id="271" r:id="rId11"/>
    <p:sldId id="264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C394-3004-A726-8A06-E175BCE58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BA09C-4A56-C093-79CF-95322E2D1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991BD-01ED-455C-E541-80C26E40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0BFA2-3BD4-14C3-6DEB-2C7F1137D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6CA9E-AC50-BEC3-6646-5665DDE1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605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24E2-9C20-F571-F5DB-D1BB450F6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6F51A-6153-C8B3-1B3B-8514820CD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75528-4CD7-2FA7-FD2C-2AF6F795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D7619-4ED8-EF6D-672B-04F9466C4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7F2CF-DB30-6301-F7CD-8965ED76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872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EBC55-C62A-1DB4-0CB3-7D56011F5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149C3-24BB-47D2-83F4-6D92B1887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05D59-DF2B-7D52-F41A-C3CF4300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05CF-EED1-9675-212F-86A9A3F2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78DCA-88AC-2FA1-9C95-34391FCC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82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909C3-6613-3F63-571A-2731A5073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F922E-3209-9897-DAE3-D36750C8A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03C0F-106E-E676-A324-A5A6DAFC0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689F9-C261-0522-4663-7CF32EAA4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01A570-542C-5B7F-AF3C-132354B9F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B0114-409D-B0FD-38CA-2B31DD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832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1E9A6-0B08-F96C-F9B3-FFB008AB8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7C489-C80E-F0A0-4911-BCB2ED8A1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F8E97-7CBA-7488-1FA9-9A855BBDA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06181-9EFF-3E19-9BE4-B29659470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80A5B-9E31-5907-C184-C46A2CD0F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11FF31-FA80-4372-EA43-08E037F6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D6E2E1-4E51-01FA-2CD5-A7981BF00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0A95E0-1BE5-2BAB-0536-DAE16936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10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7EC8-835A-4236-B8C6-B1E36A978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A067F-CAEA-B031-D275-6000D49F0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08BF0-5B67-B71B-783D-E9074BB9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54EA14-3EEF-C70A-12F9-DE21EE65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11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70705B-D215-59B7-84FB-2FF724743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63C3E2-850B-3E09-C3B6-84ACFC1BA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E5A97-4143-591B-9725-0572E11B5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98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9DB1-A93E-2765-D56A-05B1DC4A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18D7-E316-4426-28B6-A9DAECE7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326B7-C9D5-F64E-C9A9-6E60DA02E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15BB3-5128-EC43-AF5A-A0D36080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3E086-7F74-E934-C723-435C842C5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8F8E5-DDE6-0B26-23EC-8F8A6C1E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05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CE179-2AAB-0DE3-742D-BDCB544E4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D24A74-99E8-8B3A-4A4D-6AFB99E0C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6BE69-94C5-DF97-7CB2-0D3E7D1C9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F5C91-999E-2486-F676-9541DED7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ACA3A-B545-2FF5-3E43-560794E0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49C2D-DA02-9D8E-BEB6-1E705017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147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27DC-D9C4-01B4-3913-CEBCD858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7592E-75EC-B1CF-00A5-DA497B5E7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33CAA-E8E3-8596-E27D-F0BECA77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5A504-DC35-BE82-63FF-AE99D25AB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49365-42B1-D8A0-A56D-1F84C05C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5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236025-CF62-5614-5162-7131518CCF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4FDCF-12AF-E66B-DA7F-7ABC5801D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D898F-27F3-B36C-563E-1086405A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2E8D-1965-AB0C-E9B2-843D3A10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A463-E358-6266-1B40-7E8DBAB4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41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9D560-67EC-3104-52B6-A116D840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E18CC-E068-3F53-4372-4F31EDD80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C1A94-0A1F-01BF-FEA9-C04FCA5E68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DCA728-0CC2-4975-8606-9B67BDBF8D6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3F6EC-D5C2-5CC0-0E3E-68C92262D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23BA4-2B5B-3F12-AF11-F8BD51471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33C05-EACD-424D-9F9B-ADC1FFD6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71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AC0F5-C78C-5C4C-C448-3F2198750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8425" y="737937"/>
            <a:ext cx="5544307" cy="5128997"/>
          </a:xfrm>
        </p:spPr>
        <p:txBody>
          <a:bodyPr>
            <a:normAutofit fontScale="90000"/>
          </a:bodyPr>
          <a:lstStyle/>
          <a:p>
            <a:pPr algn="l"/>
            <a: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38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Internship 7.0</a:t>
            </a:r>
            <a:b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Threat Analytics Platform with Incident Visualization System Group -1</a:t>
            </a:r>
            <a:b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Vennela Pathipaka</a:t>
            </a:r>
            <a:b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Internship/Organization: INFOSYS SPRINGBOARD VIRTUAL INTERNSHIP 7.0</a:t>
            </a:r>
            <a:b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: D</a:t>
            </a:r>
            <a:b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 : Ms. S J Nityasree</a:t>
            </a:r>
            <a:b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9C05D8B-3FAC-4FEA-46F4-418BF2B6F5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71" r="423" b="2"/>
          <a:stretch/>
        </p:blipFill>
        <p:spPr bwMode="auto">
          <a:xfrm>
            <a:off x="624139" y="1221831"/>
            <a:ext cx="5662608" cy="446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F36B2BE-65F4-46E3-AFDD-A9AE9E885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C9339-6232-16CE-D8A5-C48012DB8D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54" t="21868" r="2505" b="31514"/>
          <a:stretch/>
        </p:blipFill>
        <p:spPr>
          <a:xfrm>
            <a:off x="236587" y="185665"/>
            <a:ext cx="7359350" cy="85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0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376C16-0552-5BFF-F098-2175877A5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80" y="905376"/>
            <a:ext cx="10178716" cy="5711992"/>
          </a:xfrm>
        </p:spPr>
        <p:txBody>
          <a:bodyPr>
            <a:normAutofit fontScale="92500" lnSpcReduction="10000"/>
          </a:bodyPr>
          <a:lstStyle/>
          <a:p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Incident Data</a:t>
            </a:r>
            <a:b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Microsoft Power BI to analyze cybersecurity incidents and identify meaningful patterns.</a:t>
            </a:r>
          </a:p>
          <a:p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Attack Patterns</a:t>
            </a:r>
            <a:b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attack types, threat actors, attacker motives, and incident trends.</a:t>
            </a:r>
          </a:p>
          <a:p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Global Threats</a:t>
            </a:r>
            <a:b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geographical distribution of cybersecurity incidents and identify major threat areas.</a:t>
            </a:r>
          </a:p>
          <a:p>
            <a:r>
              <a:rPr lang="en-US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 Security Insights</a:t>
            </a:r>
            <a:b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 cybersecurity incident data into interactive dashboards and meaningful insights for better analysis.</a:t>
            </a: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280E9586-1588-34CB-E9B5-B3E6928F24FD}"/>
              </a:ext>
            </a:extLst>
          </p:cNvPr>
          <p:cNvSpPr/>
          <p:nvPr/>
        </p:nvSpPr>
        <p:spPr>
          <a:xfrm>
            <a:off x="0" y="0"/>
            <a:ext cx="3497179" cy="6978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Objective:       </a:t>
            </a:r>
            <a:endParaRPr lang="en-IN" sz="2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4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7B9B67B-FF0B-E8EF-2B0A-40A63FDF9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485" y="1180951"/>
            <a:ext cx="5325979" cy="372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DE6CABA2-F371-A564-D160-ABEBBFDFD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4760" y="348916"/>
            <a:ext cx="5705188" cy="6172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cybersecurity incident dataset, its structure, attributes, and relevant fields.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the dataset by handling missing values, duplicates, inconsistent entries, and unnecessary data.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 the cleaned data and create calculated measures using DAX for effective analysis.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Visualization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Power BI dashboards to analyze cyber incidents, attack patterns, threat actors, and trends.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60DE4478-7152-8C63-E10B-BFE9DA6BBB2B}"/>
              </a:ext>
            </a:extLst>
          </p:cNvPr>
          <p:cNvSpPr/>
          <p:nvPr/>
        </p:nvSpPr>
        <p:spPr>
          <a:xfrm>
            <a:off x="0" y="0"/>
            <a:ext cx="3497179" cy="69783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Description:       </a:t>
            </a:r>
            <a:endParaRPr lang="en-IN" sz="27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F1244F53-BDB3-73A3-F8DB-AB66F6D82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19865" y="348916"/>
            <a:ext cx="448854" cy="448866"/>
          </a:xfrm>
          <a:prstGeom prst="rect">
            <a:avLst/>
          </a:prstGeom>
        </p:spPr>
      </p:pic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B4E606C-85AB-9F8C-A781-3E386E654D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7241" y="1833704"/>
            <a:ext cx="448854" cy="448866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E960C591-D390-25C4-215C-62209A67A7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3854" y="3318492"/>
            <a:ext cx="448854" cy="448866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71573" y="4740152"/>
            <a:ext cx="448854" cy="44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996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768EF-CAD3-4CA7-32E0-4D21C66B771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0"/>
            <a:ext cx="4563979" cy="74612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Visualization:</a:t>
            </a:r>
            <a:endParaRPr lang="en-IN" sz="33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854FC-F55C-87D8-8AEA-8BB451AFB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6" t="14386"/>
          <a:stretch/>
        </p:blipFill>
        <p:spPr>
          <a:xfrm>
            <a:off x="497305" y="930440"/>
            <a:ext cx="10483516" cy="554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6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A person using a computer&#10;&#10;AI-generated content may be incorrect.">
            <a:extLst>
              <a:ext uri="{FF2B5EF4-FFF2-40B4-BE49-F238E27FC236}">
                <a16:creationId xmlns:a16="http://schemas.microsoft.com/office/drawing/2014/main" id="{831B6FF8-8399-388E-88FF-625361908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140" y="1509522"/>
            <a:ext cx="5260976" cy="383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52EF991-AFF6-320B-ABA1-389CA3E8F250}"/>
              </a:ext>
            </a:extLst>
          </p:cNvPr>
          <p:cNvSpPr/>
          <p:nvPr/>
        </p:nvSpPr>
        <p:spPr>
          <a:xfrm>
            <a:off x="0" y="0"/>
            <a:ext cx="4121361" cy="713874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Workflow diagram:</a:t>
            </a:r>
            <a:endParaRPr lang="en-IN" sz="33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B10EA-B80C-90CD-76B2-A7D19B367F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09" t="-151" r="14386" b="151"/>
          <a:stretch/>
        </p:blipFill>
        <p:spPr>
          <a:xfrm>
            <a:off x="6753726" y="1074821"/>
            <a:ext cx="4178969" cy="530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64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C76AB-5300-3946-41C7-21B5ACE08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63" y="736029"/>
            <a:ext cx="10781550" cy="59214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executed through 4 structured milestones to ensure systematic progress and accuracy.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/ Source Used: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 Dataset (CSV) – publicly available dataset used for cybersecurity incident analysis.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Data Foundation &amp; Preparation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collection, preprocessing, cleaning, and data validation.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09/06/2026</a:t>
            </a:r>
          </a:p>
          <a:p>
            <a:pPr marL="0" indent="0">
              <a:buNone/>
            </a:pPr>
            <a:endParaRPr lang="en-US" sz="13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Core Dashboard Development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the first two interactive Power BI dashboards for cybersecurity analysis.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16/07/2026</a:t>
            </a:r>
          </a:p>
          <a:p>
            <a:pPr marL="0" indent="0">
              <a:buNone/>
            </a:pPr>
            <a:endParaRPr lang="en-US" sz="13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Advanced Visualization &amp; Reporting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three additional dashboards, generated insights, and completed documentation.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23/07/2026</a:t>
            </a:r>
          </a:p>
          <a:p>
            <a:pPr marL="0" indent="0">
              <a:buNone/>
            </a:pPr>
            <a:endParaRPr lang="en-US" sz="13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4 – Advanced Threat Pattern Analysis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two additional interactive dashboards for deeper threat pattern analysis and insights.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13/08/2026 </a:t>
            </a:r>
            <a:endParaRPr lang="en-IN" sz="13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5E9C2B7-BFDC-09AE-785B-A99741221456}"/>
              </a:ext>
            </a:extLst>
          </p:cNvPr>
          <p:cNvSpPr/>
          <p:nvPr/>
        </p:nvSpPr>
        <p:spPr>
          <a:xfrm>
            <a:off x="0" y="0"/>
            <a:ext cx="5863389" cy="640145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Execution Milestones:</a:t>
            </a:r>
            <a:endParaRPr lang="en-IN" sz="3000" b="1" dirty="0">
              <a:solidFill>
                <a:schemeClr val="tx1"/>
              </a:solidFill>
            </a:endParaRPr>
          </a:p>
        </p:txBody>
      </p:sp>
      <p:pic>
        <p:nvPicPr>
          <p:cNvPr id="2" name="Graphic 1" descr="Microscope with solid fill">
            <a:extLst>
              <a:ext uri="{FF2B5EF4-FFF2-40B4-BE49-F238E27FC236}">
                <a16:creationId xmlns:a16="http://schemas.microsoft.com/office/drawing/2014/main" id="{51DA6D13-7769-F074-DB4D-A247282A6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593" y="3104060"/>
            <a:ext cx="457200" cy="430008"/>
          </a:xfrm>
          <a:prstGeom prst="rect">
            <a:avLst/>
          </a:prstGeom>
        </p:spPr>
      </p:pic>
      <p:pic>
        <p:nvPicPr>
          <p:cNvPr id="5" name="Graphic 4" descr="Microscope with solid fill">
            <a:extLst>
              <a:ext uri="{FF2B5EF4-FFF2-40B4-BE49-F238E27FC236}">
                <a16:creationId xmlns:a16="http://schemas.microsoft.com/office/drawing/2014/main" id="{384F51F0-0672-D919-4E41-D16C44D1BB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463" y="761957"/>
            <a:ext cx="457200" cy="430008"/>
          </a:xfrm>
          <a:prstGeom prst="rect">
            <a:avLst/>
          </a:prstGeom>
        </p:spPr>
      </p:pic>
      <p:pic>
        <p:nvPicPr>
          <p:cNvPr id="6" name="Graphic 5" descr="Microscope with solid fill">
            <a:extLst>
              <a:ext uri="{FF2B5EF4-FFF2-40B4-BE49-F238E27FC236}">
                <a16:creationId xmlns:a16="http://schemas.microsoft.com/office/drawing/2014/main" id="{2E24B042-8E4F-92A4-8678-0F8AEE44BF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91" y="4344107"/>
            <a:ext cx="457200" cy="430008"/>
          </a:xfrm>
          <a:prstGeom prst="rect">
            <a:avLst/>
          </a:prstGeom>
        </p:spPr>
      </p:pic>
      <p:pic>
        <p:nvPicPr>
          <p:cNvPr id="7" name="Graphic 6" descr="Microscope with solid fill">
            <a:extLst>
              <a:ext uri="{FF2B5EF4-FFF2-40B4-BE49-F238E27FC236}">
                <a16:creationId xmlns:a16="http://schemas.microsoft.com/office/drawing/2014/main" id="{62AB314F-68C9-4043-A9AC-6BFE8CC07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977" y="5510144"/>
            <a:ext cx="457200" cy="430008"/>
          </a:xfrm>
          <a:prstGeom prst="rect">
            <a:avLst/>
          </a:prstGeom>
        </p:spPr>
      </p:pic>
      <p:pic>
        <p:nvPicPr>
          <p:cNvPr id="9" name="Graphic 8" descr="Microscope with solid fill">
            <a:extLst>
              <a:ext uri="{FF2B5EF4-FFF2-40B4-BE49-F238E27FC236}">
                <a16:creationId xmlns:a16="http://schemas.microsoft.com/office/drawing/2014/main" id="{F12ED387-2D70-06C4-E0B6-F419D2690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463" y="1938023"/>
            <a:ext cx="457200" cy="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421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3E397-3401-C27B-9261-AB58A9C38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36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CE5B986-BD6D-A1C7-D447-CB27E1FC0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632" y="954505"/>
            <a:ext cx="10258926" cy="498107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1. Understanding the Cybersecurity Dataset</a:t>
            </a:r>
          </a:p>
          <a:p>
            <a:pPr marL="0" indent="0">
              <a:buNone/>
            </a:pP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ea typeface="Noto Sans" panose="020B0502040504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Challenge: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Understanding the large dataset, attributes, and relationships was initially difficult.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Resolution 1: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Studied column descriptions and identified attributes relevant to cybersecurity analysis.</a:t>
            </a:r>
          </a:p>
          <a:p>
            <a:pPr marL="0" indent="0">
              <a:buNone/>
            </a:pP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ea typeface="Noto Sans" panose="020B0502040504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2. Data Preprocessing</a:t>
            </a:r>
          </a:p>
          <a:p>
            <a:pPr marL="0" indent="0">
              <a:buNone/>
            </a:pP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ea typeface="Noto Sans" panose="020B0502040504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Challenge: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Handling missing values, duplicates, inconsistent entries, and unnecessary columns.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Resolution 2: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Used </a:t>
            </a: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Power Query in Microsoft Power BI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for systematic data cleaning and transformation.</a:t>
            </a:r>
          </a:p>
          <a:p>
            <a:pPr marL="0" indent="0">
              <a:buNone/>
            </a:pP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ea typeface="Noto Sans" panose="020B0502040504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3. Selecting Appropriate Visualizations</a:t>
            </a:r>
          </a:p>
          <a:p>
            <a:pPr marL="0" indent="0">
              <a:buNone/>
            </a:pPr>
            <a:endParaRPr lang="en-IN" sz="2200" b="1" dirty="0">
              <a:solidFill>
                <a:schemeClr val="bg1"/>
              </a:solidFill>
              <a:latin typeface="Times New Roman" panose="02020603050405020304" pitchFamily="18" charset="0"/>
              <a:ea typeface="Noto Sans" panose="020B0502040504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Challenge: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Selecting suitable charts for different cybersecurity information.</a:t>
            </a:r>
          </a:p>
          <a:p>
            <a:pPr marL="0" indent="0">
              <a:buNone/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Resolution 3: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Tested different visualization types and selected the most meaningful visuals for trends  and comparisons.</a:t>
            </a:r>
          </a:p>
          <a:p>
            <a:pPr marL="0" indent="0">
              <a:buNone/>
            </a:pP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3036D4A-69A4-A437-B384-4C034883906D}"/>
              </a:ext>
            </a:extLst>
          </p:cNvPr>
          <p:cNvSpPr/>
          <p:nvPr/>
        </p:nvSpPr>
        <p:spPr>
          <a:xfrm>
            <a:off x="0" y="0"/>
            <a:ext cx="6761747" cy="77002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and Resolutions: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D2B4E433-3248-4C84-E076-B88D6D801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035" y="3935533"/>
            <a:ext cx="448854" cy="448866"/>
          </a:xfrm>
          <a:prstGeom prst="rect">
            <a:avLst/>
          </a:prstGeom>
        </p:spPr>
      </p:pic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9DAC5945-A910-40ED-CDB0-32BF2C49D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220" y="2443304"/>
            <a:ext cx="448854" cy="448866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40080B3-1EA6-345D-0572-EAA4555C4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030" y="951075"/>
            <a:ext cx="448854" cy="44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96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E512861C-B6AF-87D0-1B46-42FEA39BC255}"/>
              </a:ext>
            </a:extLst>
          </p:cNvPr>
          <p:cNvSpPr/>
          <p:nvPr/>
        </p:nvSpPr>
        <p:spPr>
          <a:xfrm>
            <a:off x="0" y="0"/>
            <a:ext cx="5335213" cy="666602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&amp; Skills Acquired: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DA50-4919-AF48-264A-6CE462A60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495" y="774867"/>
            <a:ext cx="10515600" cy="546551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Skills:</a:t>
            </a:r>
            <a:endParaRPr lang="en-US" sz="80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DAX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Data Visualization </a:t>
            </a:r>
          </a:p>
          <a:p>
            <a:pPr marL="0" indent="0">
              <a:buNone/>
            </a:pPr>
            <a:r>
              <a:rPr lang="en-US" sz="8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 Skills:</a:t>
            </a:r>
            <a:endParaRPr lang="en-US" sz="80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Thinking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Solving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 </a:t>
            </a: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 </a:t>
            </a:r>
          </a:p>
          <a:p>
            <a:pPr marL="0" indent="0">
              <a:buNone/>
            </a:pPr>
            <a:r>
              <a:rPr lang="en-US" sz="8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Learning / Experience:</a:t>
            </a:r>
            <a:endParaRPr lang="en-US" sz="80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</a:t>
            </a:r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analytics, data visualization, business intelligence, and data-driven decision-making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through the development of interactive Power BI dashboards.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D7C3E-2D7E-6BCE-8F94-0DDA64414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64" y="1130968"/>
            <a:ext cx="6950242" cy="401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60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4EB2420-07B9-F3E1-A971-E356EF6EFF55}"/>
              </a:ext>
            </a:extLst>
          </p:cNvPr>
          <p:cNvSpPr/>
          <p:nvPr/>
        </p:nvSpPr>
        <p:spPr>
          <a:xfrm>
            <a:off x="0" y="0"/>
            <a:ext cx="4555958" cy="753979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653AFF0-4108-DBA9-E881-65730AEFD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8231" y="1050354"/>
            <a:ext cx="7740316" cy="49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Future Enhancements</a:t>
            </a:r>
            <a:b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Real-Time Data Integration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– Integrate real-time cybersecurity data. </a:t>
            </a: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Predictive Analytics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– Implement machine learning for threat prediction. </a:t>
            </a: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Automated Alerts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– Add automated alerts and advanced dashboard features. </a:t>
            </a: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Advanced Dashboard Features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– Enhance interactive cybersecurity monitoring. </a:t>
            </a: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Key Insights</a:t>
            </a:r>
            <a:b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Hacking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emerged as one of the most frequently observed attack methods. </a:t>
            </a: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External threat actors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accounted for a significant number of incidents. </a:t>
            </a:r>
            <a:b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The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2010s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recorded the highest threat activity, with a significant increase in cyber incidents</a:t>
            </a:r>
            <a:b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C34D5-0271-006C-51CB-4CA9D0B04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2399" y="1404612"/>
            <a:ext cx="4331369" cy="3727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94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A hand holding a glowing circle&#10;&#10;AI-generated content may be incorrect.">
            <a:extLst>
              <a:ext uri="{FF2B5EF4-FFF2-40B4-BE49-F238E27FC236}">
                <a16:creationId xmlns:a16="http://schemas.microsoft.com/office/drawing/2014/main" id="{347EA482-52EA-B4D9-8851-84D0F3B0B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8036" y="1291389"/>
            <a:ext cx="5260976" cy="401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Content Placeholder 6149">
            <a:extLst>
              <a:ext uri="{FF2B5EF4-FFF2-40B4-BE49-F238E27FC236}">
                <a16:creationId xmlns:a16="http://schemas.microsoft.com/office/drawing/2014/main" id="{E070286C-2B75-044C-79BA-9BFA6AFD8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1516" y="272716"/>
            <a:ext cx="6176209" cy="6585284"/>
          </a:xfrm>
        </p:spPr>
        <p:txBody>
          <a:bodyPr>
            <a:no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Advanced Threat Incident Analytics and Security Visualization Framework successfully transformed cybersecurity incident data into meaningful interactive insights using Microsoft Power BI.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The project strengthened technical, analytical, and problem-solving skills through data preprocessing, DAX, data modelling, and dashboard development.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It provided practical experience in cybersecurity analytics, business intelligence, and data-driven decision-making.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Overall, the internship complemented academic learning and provided valuable preparation for future opportunities in data analytics, cybersecurity, and business intelligence. 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813D493-26FB-8881-1724-4043BCB9D493}"/>
              </a:ext>
            </a:extLst>
          </p:cNvPr>
          <p:cNvSpPr/>
          <p:nvPr/>
        </p:nvSpPr>
        <p:spPr>
          <a:xfrm>
            <a:off x="0" y="0"/>
            <a:ext cx="4162926" cy="657726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sz="3300" b="1" dirty="0"/>
          </a:p>
        </p:txBody>
      </p:sp>
    </p:spTree>
    <p:extLst>
      <p:ext uri="{BB962C8B-B14F-4D97-AF65-F5344CB8AC3E}">
        <p14:creationId xmlns:p14="http://schemas.microsoft.com/office/powerpoint/2010/main" val="473323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265ED-E8F8-EF6A-8B15-FEFC6A70E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05" y="689810"/>
            <a:ext cx="11401927" cy="6408822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I would like to express my heartfelt gratitude to:</a:t>
            </a:r>
          </a:p>
          <a:p>
            <a:pPr>
              <a:lnSpc>
                <a:spcPct val="150000"/>
              </a:lnSpc>
              <a:buNone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Infosys Springboard Team</a:t>
            </a:r>
            <a:b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For providing a structured, industry-aligned virtual internship and practical learning platform.</a:t>
            </a:r>
          </a:p>
          <a:p>
            <a:pPr>
              <a:lnSpc>
                <a:spcPct val="150000"/>
              </a:lnSpc>
              <a:buNone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Mentor – Ms. Nityasree</a:t>
            </a:r>
            <a:b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For continuous guidance, valuable feedback, and encouragement throughout the project.</a:t>
            </a:r>
          </a:p>
          <a:p>
            <a:pPr>
              <a:lnSpc>
                <a:spcPct val="150000"/>
              </a:lnSpc>
              <a:buNone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Team Members</a:t>
            </a:r>
            <a:b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Vennela Pathipaka, </a:t>
            </a:r>
            <a:r>
              <a:rPr lang="en-IN" sz="4600" dirty="0" err="1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Tejasri</a:t>
            </a: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Lakshmi </a:t>
            </a:r>
            <a:r>
              <a:rPr lang="en-IN" sz="4600" dirty="0" err="1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Maddula</a:t>
            </a: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, and Twinkle Mohanty for collaboration, accountability, and teamwork.</a:t>
            </a:r>
          </a:p>
          <a:p>
            <a:pPr>
              <a:lnSpc>
                <a:spcPct val="150000"/>
              </a:lnSpc>
              <a:buNone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Other Acknowledgement</a:t>
            </a:r>
            <a:b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</a:b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Microsoft Power BI documentation and community resources, and Kaggle for publicly available datasets. </a:t>
            </a:r>
          </a:p>
          <a:p>
            <a:pPr>
              <a:lnSpc>
                <a:spcPct val="150000"/>
              </a:lnSpc>
              <a:buNone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References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Microsoft Power BI Documentation &amp; Community Resources</a:t>
            </a: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Kaggle – Cybersecurity Incident Dataset</a:t>
            </a:r>
            <a:r>
              <a:rPr lang="en-IN" sz="4600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Infosys Springboard Virtual Internship 7.0 Learning Resources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Microsoft Power Query Documentation.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4600" b="1" dirty="0">
                <a:solidFill>
                  <a:schemeClr val="bg1"/>
                </a:solidFill>
                <a:latin typeface="Times New Roman" panose="02020603050405020304" pitchFamily="18" charset="0"/>
                <a:ea typeface="Noto Sans" panose="020B0502040504020204" pitchFamily="34" charset="0"/>
                <a:cs typeface="Times New Roman" panose="02020603050405020304" pitchFamily="18" charset="0"/>
              </a:rPr>
              <a:t>Microsoft DAX Documentation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endParaRPr lang="en-IN" sz="3500" dirty="0">
              <a:solidFill>
                <a:schemeClr val="bg1"/>
              </a:solidFill>
              <a:latin typeface="Times New Roman" panose="02020603050405020304" pitchFamily="18" charset="0"/>
              <a:ea typeface="Noto Sans" panose="020B0502040504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3B535F5-F5FC-2FB5-639D-B9CC80BD5191}"/>
              </a:ext>
            </a:extLst>
          </p:cNvPr>
          <p:cNvSpPr/>
          <p:nvPr/>
        </p:nvSpPr>
        <p:spPr>
          <a:xfrm>
            <a:off x="0" y="0"/>
            <a:ext cx="6031832" cy="689810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 And References: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846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9B444B-9385-876D-CA49-A9A460B26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73" y="56146"/>
            <a:ext cx="11959389" cy="66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4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804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Times New Roman</vt:lpstr>
      <vt:lpstr>Office Theme</vt:lpstr>
      <vt:lpstr>            Virtual Internship 7.0  Cyber Threat Analytics Platform with Incident Visualization System Group -1  Presented By: Vennela Pathipaka Internship/Organization: INFOSYS SPRINGBOARD VIRTUAL INTERNSHIP 7.0 Team : D Mentor : Ms. S J Nityasree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Enhancements Real-Time Data Integration – Integrate real-time cybersecurity data.  Predictive Analytics – Implement machine learning for threat prediction.  Automated Alerts – Add automated alerts and advanced dashboard features.  Advanced Dashboard Features – Enhance interactive cybersecurity monitoring.   Key Insights Hacking emerged as one of the most frequently observed attack methods.  External threat actors accounted for a significant number of incidents.  The 2010s recorded the highest threat activity, with a significant increase in cyber incidents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Vennela Pathipaka</dc:creator>
  <cp:lastModifiedBy>Vennela Pathipaka</cp:lastModifiedBy>
  <cp:revision>36</cp:revision>
  <dcterms:created xsi:type="dcterms:W3CDTF">2026-07-06T04:28:03Z</dcterms:created>
  <dcterms:modified xsi:type="dcterms:W3CDTF">2026-08-21T15:04:40Z</dcterms:modified>
</cp:coreProperties>
</file>